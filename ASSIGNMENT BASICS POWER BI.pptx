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3" d="100"/>
          <a:sy n="73" d="100"/>
        </p:scale>
        <p:origin x="107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D14D76-BB87-2713-8770-221F215C49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0BF9B2-BE38-4FC4-D0F4-9BC535FA98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CFC1B5-7472-957A-FB0E-F09EE83DA3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E92878-1356-4D32-A32A-DDED2B1DA406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17C87D-0D0E-6524-8B7C-F10A25F5C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414941-97A9-8805-A5D7-865FE1FB1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B2A62A-6DE7-4302-95C1-0648C9502E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06504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E6120B-8D8E-FAB9-248F-11727DF764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F20126-E8C7-0119-8CBE-0318699CD3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56DBEE-A3FD-510F-31DF-5682283D3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E92878-1356-4D32-A32A-DDED2B1DA406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CBC66C-AD64-786D-D58B-DA69A3DF7A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7629A2-8887-23B1-5681-F8AD7A6650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B2A62A-6DE7-4302-95C1-0648C9502E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62785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029034-4624-9106-33BD-A343369BA0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1232F4-7CDA-7D23-91F0-645DDCB790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4C48D-C97E-7024-4B10-84A0D96E0E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E92878-1356-4D32-A32A-DDED2B1DA406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86C88F-213D-994C-203C-0271A0D262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884157-2C97-1CC7-4FF5-BFF679BDCF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B2A62A-6DE7-4302-95C1-0648C9502E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4938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43E2DF-1ADF-A9B9-520C-1DB279C69F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14C0E0-2915-C13E-7D4E-70107217B1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EBA39B-7840-DD9C-5ABC-357C467E17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9605B1-600C-364D-9E69-4EFB4F68AB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E92878-1356-4D32-A32A-DDED2B1DA406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D01264-EA33-6E95-6EF9-0C30A95316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741BC3-29FD-102E-3F5B-8673EEB9E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B2A62A-6DE7-4302-95C1-0648C9502E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98217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0C7571-22CA-A0A3-807A-833AB15FBA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629274-897F-5CEC-3BBA-5F78D0D894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77C8A3-9BB1-6FAC-1DDE-512E0FF679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7497C7A-49FC-15F3-AD27-530833B1CDB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3202ED1-C4B0-DA1C-731E-BE168378B0E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323A6B6-1049-C010-E787-489D86660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E92878-1356-4D32-A32A-DDED2B1DA406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B30B757-CE51-4240-26FF-A076B63D4B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5AD244E-FE76-1201-8752-42DEE05140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B2A62A-6DE7-4302-95C1-0648C9502E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38713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0DB4D7-CFA6-9AF6-FD0F-36918E4581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B9474F3-A866-F25A-C248-8EEAF9C9E3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E92878-1356-4D32-A32A-DDED2B1DA406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D2E8F3-FFF6-7694-65EC-0090BEEC77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06A157-2834-5294-BF5E-34041A1F00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B2A62A-6DE7-4302-95C1-0648C9502E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09980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F78F5D5-D4F0-5680-1BA9-4FD2C8C472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E92878-1356-4D32-A32A-DDED2B1DA406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823D60B-8C13-3F7E-D832-7BF8F315C3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C46FED-280A-13F0-4960-8BC40D8BFA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B2A62A-6DE7-4302-95C1-0648C9502E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30863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C98EA6-C3C0-2F96-2F86-19C6252939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56A273-E923-19F1-F9B9-DFFC8263C8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2EEB80-54AD-91A1-8C6E-EEE001F193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625B30-9761-FBA4-4309-58CC7F998F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E92878-1356-4D32-A32A-DDED2B1DA406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B693AE-BA53-BC1E-E549-E94CC49D32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C547C6-C739-1F1B-1CF7-67086AC1C0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B2A62A-6DE7-4302-95C1-0648C9502E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04606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763147-BC3D-D1B1-2D60-E3708DF803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F4A1AF5-3C4D-9581-1E2A-65FA7B0AAC7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4DB1BD-7745-1704-01D8-4BE8930147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EB3D1A-78B0-AF98-7598-902D36D48A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E92878-1356-4D32-A32A-DDED2B1DA406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2DEA3F-3E5B-F1E3-1654-C7AEB13979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FD032E-A2D7-88E0-1960-E1F89E0F0A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B2A62A-6DE7-4302-95C1-0648C9502E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83637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94FA90-FD6D-9D49-1E1D-1176736670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564D21-E146-D22B-976E-A9177775C9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1A3E35-42AF-A176-8A4D-FF7C7D521A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E92878-1356-4D32-A32A-DDED2B1DA406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3A11C7-90DD-B900-465B-29335E20EB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6225C7-9938-B394-02C7-D2482E127C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B2A62A-6DE7-4302-95C1-0648C9502E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67592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253B41F-17E3-A847-EA5F-6246248FC77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5CC53EC-08B0-A2E5-2567-785C44623B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BA9D03-4255-C6CE-AF53-DB8DBA9DB0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E92878-1356-4D32-A32A-DDED2B1DA406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D60C34-FB0D-9D36-ECE6-EF254A2A29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D3F591-327E-48A7-1859-A452380C39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B2A62A-6DE7-4302-95C1-0648C9502E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66505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00BEA66-A4B3-E7F6-B7EA-78EE8EF76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03EE0D-28F2-93BF-AD4E-FDA5ACAD8E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1DF53A-B120-AF6C-9DE3-23EB3D563E7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E92878-1356-4D32-A32A-DDED2B1DA406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FA1239-9498-16AA-B5C1-3520B5DA41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08C46F-34BE-8D69-29AB-C26B65E28B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B2A62A-6DE7-4302-95C1-0648C9502E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55864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2DD3F-984A-7856-BCEB-CF2D95F136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latin typeface="Gill Sans MT" panose="020B0502020104020203" pitchFamily="34" charset="0"/>
              </a:rPr>
              <a:t>POWER BI:</a:t>
            </a:r>
            <a:br>
              <a:rPr lang="en-US" sz="2800" b="1" dirty="0">
                <a:latin typeface="Gill Sans MT" panose="020B0502020104020203" pitchFamily="34" charset="0"/>
              </a:rPr>
            </a:br>
            <a:r>
              <a:rPr lang="en-US" sz="2700" b="1" dirty="0">
                <a:latin typeface="Gill Sans MT" panose="020B0502020104020203" pitchFamily="34" charset="0"/>
              </a:rPr>
              <a:t>Question 1 : What is Power BI and why is it used in businesses?</a:t>
            </a:r>
            <a:endParaRPr lang="en-IN" sz="2700" b="1" dirty="0">
              <a:latin typeface="Gill Sans MT" panose="020B0502020104020203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C69BB1-8E59-02BC-F65E-46B19C8FD7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>
                <a:solidFill>
                  <a:srgbClr val="0070C0"/>
                </a:solidFill>
                <a:latin typeface="Gill Sans MT" panose="020B0502020104020203" pitchFamily="34" charset="0"/>
              </a:rPr>
              <a:t>ANS: </a:t>
            </a:r>
            <a:r>
              <a:rPr lang="en-IN" dirty="0">
                <a:solidFill>
                  <a:srgbClr val="0070C0"/>
                </a:solidFill>
                <a:latin typeface="Gill Sans MT" panose="020B0502020104020203" pitchFamily="34" charset="0"/>
              </a:rPr>
              <a:t>Power BI is a business analytics tool by Microsoft that helps you </a:t>
            </a:r>
            <a:r>
              <a:rPr lang="en-IN" dirty="0" err="1">
                <a:solidFill>
                  <a:srgbClr val="0070C0"/>
                </a:solidFill>
                <a:latin typeface="Gill Sans MT" panose="020B0502020104020203" pitchFamily="34" charset="0"/>
              </a:rPr>
              <a:t>analyze</a:t>
            </a:r>
            <a:r>
              <a:rPr lang="en-IN" dirty="0">
                <a:solidFill>
                  <a:srgbClr val="0070C0"/>
                </a:solidFill>
                <a:latin typeface="Gill Sans MT" panose="020B0502020104020203" pitchFamily="34" charset="0"/>
              </a:rPr>
              <a:t> data and create interactive dashboards and reports.</a:t>
            </a:r>
          </a:p>
          <a:p>
            <a:r>
              <a:rPr lang="en-IN" dirty="0">
                <a:solidFill>
                  <a:srgbClr val="0070C0"/>
                </a:solidFill>
                <a:latin typeface="Gill Sans MT" panose="020B0502020104020203" pitchFamily="34" charset="0"/>
              </a:rPr>
              <a:t>Why businesses use Power BI:</a:t>
            </a:r>
          </a:p>
          <a:p>
            <a:r>
              <a:rPr lang="en-IN" b="1" i="1" dirty="0">
                <a:solidFill>
                  <a:srgbClr val="0070C0"/>
                </a:solidFill>
                <a:latin typeface="Gill Sans MT" panose="020B0502020104020203" pitchFamily="34" charset="0"/>
              </a:rPr>
              <a:t>   Data Visualization </a:t>
            </a:r>
            <a:r>
              <a:rPr lang="en-IN" dirty="0">
                <a:solidFill>
                  <a:srgbClr val="0070C0"/>
                </a:solidFill>
                <a:latin typeface="Gill Sans MT" panose="020B0502020104020203" pitchFamily="34" charset="0"/>
              </a:rPr>
              <a:t>→ Converts raw data into charts, graphs, dashboards </a:t>
            </a:r>
          </a:p>
          <a:p>
            <a:r>
              <a:rPr lang="en-IN" b="1" i="1" dirty="0">
                <a:solidFill>
                  <a:srgbClr val="0070C0"/>
                </a:solidFill>
                <a:latin typeface="Gill Sans MT" panose="020B0502020104020203" pitchFamily="34" charset="0"/>
              </a:rPr>
              <a:t>   Better Decision Making </a:t>
            </a:r>
            <a:r>
              <a:rPr lang="en-IN" dirty="0">
                <a:solidFill>
                  <a:srgbClr val="0070C0"/>
                </a:solidFill>
                <a:latin typeface="Gill Sans MT" panose="020B0502020104020203" pitchFamily="34" charset="0"/>
              </a:rPr>
              <a:t>→ Helps managers understand trends &amp;         insights quickly </a:t>
            </a:r>
          </a:p>
          <a:p>
            <a:r>
              <a:rPr lang="en-IN" b="1" i="1" dirty="0">
                <a:solidFill>
                  <a:srgbClr val="0070C0"/>
                </a:solidFill>
                <a:latin typeface="Gill Sans MT" panose="020B0502020104020203" pitchFamily="34" charset="0"/>
              </a:rPr>
              <a:t>   Data Integration </a:t>
            </a:r>
            <a:r>
              <a:rPr lang="en-IN" dirty="0">
                <a:solidFill>
                  <a:srgbClr val="0070C0"/>
                </a:solidFill>
                <a:latin typeface="Gill Sans MT" panose="020B0502020104020203" pitchFamily="34" charset="0"/>
              </a:rPr>
              <a:t>→ Connects with Excel, SQL, cloud, APIs, etc. </a:t>
            </a:r>
          </a:p>
          <a:p>
            <a:r>
              <a:rPr lang="en-IN" b="1" i="1" dirty="0">
                <a:solidFill>
                  <a:srgbClr val="0070C0"/>
                </a:solidFill>
                <a:latin typeface="Gill Sans MT" panose="020B0502020104020203" pitchFamily="34" charset="0"/>
              </a:rPr>
              <a:t>   Real-time Insights </a:t>
            </a:r>
            <a:r>
              <a:rPr lang="en-IN" dirty="0">
                <a:solidFill>
                  <a:srgbClr val="0070C0"/>
                </a:solidFill>
                <a:latin typeface="Gill Sans MT" panose="020B0502020104020203" pitchFamily="34" charset="0"/>
              </a:rPr>
              <a:t>→ Live dashboards for updated data </a:t>
            </a:r>
          </a:p>
          <a:p>
            <a:r>
              <a:rPr lang="en-IN" b="1" i="1" dirty="0">
                <a:solidFill>
                  <a:srgbClr val="0070C0"/>
                </a:solidFill>
                <a:latin typeface="Gill Sans MT" panose="020B0502020104020203" pitchFamily="34" charset="0"/>
              </a:rPr>
              <a:t>   User-friendly </a:t>
            </a:r>
            <a:r>
              <a:rPr lang="en-IN" dirty="0">
                <a:solidFill>
                  <a:srgbClr val="0070C0"/>
                </a:solidFill>
                <a:latin typeface="Gill Sans MT" panose="020B0502020104020203" pitchFamily="34" charset="0"/>
              </a:rPr>
              <a:t>→ Drag-and-drop interface (no heavy coding needed) </a:t>
            </a:r>
          </a:p>
          <a:p>
            <a:r>
              <a:rPr lang="en-IN" b="1" i="1" dirty="0">
                <a:solidFill>
                  <a:srgbClr val="0070C0"/>
                </a:solidFill>
                <a:latin typeface="Gill Sans MT" panose="020B0502020104020203" pitchFamily="34" charset="0"/>
              </a:rPr>
              <a:t>   Collaboration</a:t>
            </a:r>
            <a:r>
              <a:rPr lang="en-IN" dirty="0">
                <a:solidFill>
                  <a:srgbClr val="0070C0"/>
                </a:solidFill>
                <a:latin typeface="Gill Sans MT" panose="020B0502020104020203" pitchFamily="34" charset="0"/>
              </a:rPr>
              <a:t> → Share reports across teams easily</a:t>
            </a:r>
          </a:p>
          <a:p>
            <a:endParaRPr lang="en-IN" dirty="0">
              <a:latin typeface="Gill Sans MT" panose="020B05020201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53004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171976-0B88-9C5A-E01F-6B4AA71F4C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>
                <a:latin typeface="Gill Sans MT" panose="020B0502020104020203" pitchFamily="34" charset="0"/>
              </a:rPr>
              <a:t>Question 2 : Name and explain the three main components of   Power BI.</a:t>
            </a:r>
            <a:endParaRPr lang="en-IN" sz="2800" b="1" dirty="0">
              <a:latin typeface="Gill Sans MT" panose="020B0502020104020203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40CCE4-CC25-0B1F-903E-CC777FACB2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47253"/>
            <a:ext cx="10515600" cy="5289878"/>
          </a:xfrm>
        </p:spPr>
        <p:txBody>
          <a:bodyPr>
            <a:noAutofit/>
          </a:bodyPr>
          <a:lstStyle/>
          <a:p>
            <a:r>
              <a:rPr lang="en-US" sz="1800" dirty="0">
                <a:solidFill>
                  <a:srgbClr val="0070C0"/>
                </a:solidFill>
              </a:rPr>
              <a:t>Ans: </a:t>
            </a:r>
            <a:r>
              <a:rPr lang="en-US" sz="1800" b="1" dirty="0">
                <a:solidFill>
                  <a:srgbClr val="0070C0"/>
                </a:solidFill>
              </a:rPr>
              <a:t>1. </a:t>
            </a:r>
            <a:r>
              <a:rPr lang="en-US" sz="1800" b="1" i="1" u="sng" dirty="0">
                <a:solidFill>
                  <a:srgbClr val="0070C0"/>
                </a:solidFill>
                <a:latin typeface="Amasis MT Pro Medium" panose="02040604050005020304" pitchFamily="18" charset="0"/>
              </a:rPr>
              <a:t>Power BI Desktop</a:t>
            </a:r>
          </a:p>
          <a:p>
            <a:r>
              <a:rPr lang="en-US" sz="1800" dirty="0">
                <a:solidFill>
                  <a:srgbClr val="0070C0"/>
                </a:solidFill>
              </a:rPr>
              <a:t>    Installed software on your computer, Used to </a:t>
            </a:r>
            <a:r>
              <a:rPr lang="en-US" sz="1800" b="1" dirty="0">
                <a:solidFill>
                  <a:srgbClr val="0070C0"/>
                </a:solidFill>
              </a:rPr>
              <a:t>connect, clean, and transform data</a:t>
            </a:r>
            <a:r>
              <a:rPr lang="en-US" sz="1800" dirty="0">
                <a:solidFill>
                  <a:srgbClr val="0070C0"/>
                </a:solidFill>
              </a:rPr>
              <a:t> (Power Query) </a:t>
            </a:r>
          </a:p>
          <a:p>
            <a:r>
              <a:rPr lang="en-US" sz="1800" dirty="0">
                <a:solidFill>
                  <a:srgbClr val="0070C0"/>
                </a:solidFill>
              </a:rPr>
              <a:t>    Create </a:t>
            </a:r>
            <a:r>
              <a:rPr lang="en-US" sz="1800" b="1" dirty="0">
                <a:solidFill>
                  <a:srgbClr val="0070C0"/>
                </a:solidFill>
              </a:rPr>
              <a:t>reports, charts, and dashboards</a:t>
            </a:r>
            <a:r>
              <a:rPr lang="en-US" sz="1800" dirty="0">
                <a:solidFill>
                  <a:srgbClr val="0070C0"/>
                </a:solidFill>
              </a:rPr>
              <a:t> </a:t>
            </a:r>
          </a:p>
          <a:p>
            <a:r>
              <a:rPr lang="en-US" sz="1800" dirty="0">
                <a:solidFill>
                  <a:srgbClr val="0070C0"/>
                </a:solidFill>
              </a:rPr>
              <a:t>    Main tool for data analysts </a:t>
            </a:r>
          </a:p>
          <a:p>
            <a:r>
              <a:rPr lang="en-US" sz="1800" b="1" dirty="0">
                <a:solidFill>
                  <a:srgbClr val="0070C0"/>
                </a:solidFill>
              </a:rPr>
              <a:t>2. </a:t>
            </a:r>
            <a:r>
              <a:rPr lang="en-US" sz="1800" b="1" i="1" u="sng" dirty="0">
                <a:solidFill>
                  <a:srgbClr val="0070C0"/>
                </a:solidFill>
                <a:latin typeface="Amasis MT Pro Medium" panose="02040604050005020304" pitchFamily="18" charset="0"/>
              </a:rPr>
              <a:t>Power BI Service (PowerBI.com)</a:t>
            </a:r>
          </a:p>
          <a:p>
            <a:r>
              <a:rPr lang="en-US" sz="1800" b="1" dirty="0">
                <a:solidFill>
                  <a:srgbClr val="0070C0"/>
                </a:solidFill>
              </a:rPr>
              <a:t>    Cloud-based platform</a:t>
            </a:r>
            <a:r>
              <a:rPr lang="en-US" sz="1800" dirty="0">
                <a:solidFill>
                  <a:srgbClr val="0070C0"/>
                </a:solidFill>
              </a:rPr>
              <a:t> </a:t>
            </a:r>
          </a:p>
          <a:p>
            <a:r>
              <a:rPr lang="en-US" sz="1800" dirty="0">
                <a:solidFill>
                  <a:srgbClr val="0070C0"/>
                </a:solidFill>
              </a:rPr>
              <a:t>    Used to </a:t>
            </a:r>
            <a:r>
              <a:rPr lang="en-US" sz="1800" b="1" dirty="0">
                <a:solidFill>
                  <a:srgbClr val="0070C0"/>
                </a:solidFill>
              </a:rPr>
              <a:t>publish reports</a:t>
            </a:r>
            <a:r>
              <a:rPr lang="en-US" sz="1800" dirty="0">
                <a:solidFill>
                  <a:srgbClr val="0070C0"/>
                </a:solidFill>
              </a:rPr>
              <a:t> from Desktop </a:t>
            </a:r>
          </a:p>
          <a:p>
            <a:r>
              <a:rPr lang="en-US" sz="1800" dirty="0">
                <a:solidFill>
                  <a:srgbClr val="0070C0"/>
                </a:solidFill>
              </a:rPr>
              <a:t>    Share dashboards with others </a:t>
            </a:r>
          </a:p>
          <a:p>
            <a:r>
              <a:rPr lang="en-US" sz="1800" dirty="0">
                <a:solidFill>
                  <a:srgbClr val="0070C0"/>
                </a:solidFill>
              </a:rPr>
              <a:t>     Enables </a:t>
            </a:r>
            <a:r>
              <a:rPr lang="en-US" sz="1800" b="1" dirty="0">
                <a:solidFill>
                  <a:srgbClr val="0070C0"/>
                </a:solidFill>
              </a:rPr>
              <a:t>real-time access &amp; collaboration</a:t>
            </a:r>
            <a:r>
              <a:rPr lang="en-US" sz="1800" dirty="0">
                <a:solidFill>
                  <a:srgbClr val="0070C0"/>
                </a:solidFill>
              </a:rPr>
              <a:t> </a:t>
            </a:r>
          </a:p>
          <a:p>
            <a:r>
              <a:rPr lang="en-US" sz="1800" b="1" dirty="0">
                <a:solidFill>
                  <a:srgbClr val="0070C0"/>
                </a:solidFill>
              </a:rPr>
              <a:t>3. </a:t>
            </a:r>
            <a:r>
              <a:rPr lang="en-US" sz="1800" b="1" i="1" u="sng" dirty="0">
                <a:solidFill>
                  <a:srgbClr val="0070C0"/>
                </a:solidFill>
                <a:latin typeface="Amasis MT Pro Medium" panose="02040604050005020304" pitchFamily="18" charset="0"/>
              </a:rPr>
              <a:t>Power BI Mobile</a:t>
            </a:r>
          </a:p>
          <a:p>
            <a:r>
              <a:rPr lang="en-US" sz="1800" dirty="0">
                <a:solidFill>
                  <a:srgbClr val="0070C0"/>
                </a:solidFill>
              </a:rPr>
              <a:t>     Mobile app (Android/iOS) </a:t>
            </a:r>
          </a:p>
          <a:p>
            <a:r>
              <a:rPr lang="en-US" sz="1800" dirty="0">
                <a:solidFill>
                  <a:srgbClr val="0070C0"/>
                </a:solidFill>
              </a:rPr>
              <a:t>     View dashboards and reports on phone/tablet </a:t>
            </a:r>
          </a:p>
          <a:p>
            <a:r>
              <a:rPr lang="en-US" sz="1800" dirty="0">
                <a:solidFill>
                  <a:srgbClr val="0070C0"/>
                </a:solidFill>
              </a:rPr>
              <a:t>      Get </a:t>
            </a:r>
            <a:r>
              <a:rPr lang="en-US" sz="1800" b="1" dirty="0">
                <a:solidFill>
                  <a:srgbClr val="0070C0"/>
                </a:solidFill>
              </a:rPr>
              <a:t>alerts and insights on the go</a:t>
            </a:r>
            <a:endParaRPr lang="en-US" sz="1800" dirty="0">
              <a:solidFill>
                <a:srgbClr val="0070C0"/>
              </a:solidFill>
            </a:endParaRPr>
          </a:p>
          <a:p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6924938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572D5C-7F66-EC78-4E7C-6A455A798C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>
                <a:latin typeface="Gill Sans MT" panose="020B0502020104020203" pitchFamily="34" charset="0"/>
              </a:rPr>
              <a:t>Question 3 : Explain the Power BI workflow.</a:t>
            </a:r>
            <a:endParaRPr lang="en-IN" sz="2800" b="1" dirty="0">
              <a:latin typeface="Gill Sans MT" panose="020B0502020104020203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79CB59-7C79-88D1-00BE-38A992116C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1335"/>
            <a:ext cx="10515600" cy="4351338"/>
          </a:xfrm>
        </p:spPr>
        <p:txBody>
          <a:bodyPr>
            <a:normAutofit fontScale="85000" lnSpcReduction="20000"/>
          </a:bodyPr>
          <a:lstStyle/>
          <a:p>
            <a:r>
              <a:rPr lang="en-US" dirty="0">
                <a:solidFill>
                  <a:srgbClr val="0070C0"/>
                </a:solidFill>
                <a:latin typeface="Gill Sans MT" panose="020B0502020104020203" pitchFamily="34" charset="0"/>
              </a:rPr>
              <a:t>Ans: </a:t>
            </a:r>
            <a:r>
              <a:rPr lang="en-US" b="1" dirty="0">
                <a:solidFill>
                  <a:srgbClr val="0070C0"/>
                </a:solidFill>
                <a:latin typeface="Gill Sans MT" panose="020B0502020104020203" pitchFamily="34" charset="0"/>
              </a:rPr>
              <a:t>Power BI Workflow:</a:t>
            </a:r>
          </a:p>
          <a:p>
            <a:r>
              <a:rPr lang="en-US" b="1" dirty="0">
                <a:solidFill>
                  <a:srgbClr val="0070C0"/>
                </a:solidFill>
                <a:latin typeface="Gill Sans MT" panose="020B0502020104020203" pitchFamily="34" charset="0"/>
              </a:rPr>
              <a:t>Data Collection</a:t>
            </a:r>
            <a:br>
              <a:rPr lang="en-US" dirty="0">
                <a:solidFill>
                  <a:srgbClr val="0070C0"/>
                </a:solidFill>
                <a:latin typeface="Gill Sans MT" panose="020B0502020104020203" pitchFamily="34" charset="0"/>
              </a:rPr>
            </a:br>
            <a:r>
              <a:rPr lang="en-US" dirty="0">
                <a:solidFill>
                  <a:srgbClr val="0070C0"/>
                </a:solidFill>
                <a:latin typeface="Gill Sans MT" panose="020B0502020104020203" pitchFamily="34" charset="0"/>
              </a:rPr>
              <a:t>   Import data from sources like Excel, SQL, cloud, APIs </a:t>
            </a:r>
          </a:p>
          <a:p>
            <a:r>
              <a:rPr lang="en-US" b="1" dirty="0">
                <a:solidFill>
                  <a:srgbClr val="0070C0"/>
                </a:solidFill>
                <a:latin typeface="Gill Sans MT" panose="020B0502020104020203" pitchFamily="34" charset="0"/>
              </a:rPr>
              <a:t>Data Cleaning (Power Query)</a:t>
            </a:r>
            <a:br>
              <a:rPr lang="en-US" dirty="0">
                <a:solidFill>
                  <a:srgbClr val="0070C0"/>
                </a:solidFill>
                <a:latin typeface="Gill Sans MT" panose="020B0502020104020203" pitchFamily="34" charset="0"/>
              </a:rPr>
            </a:br>
            <a:r>
              <a:rPr lang="en-US" dirty="0">
                <a:solidFill>
                  <a:srgbClr val="0070C0"/>
                </a:solidFill>
                <a:latin typeface="Gill Sans MT" panose="020B0502020104020203" pitchFamily="34" charset="0"/>
              </a:rPr>
              <a:t>   Remove errors, duplicates, and transform data </a:t>
            </a:r>
          </a:p>
          <a:p>
            <a:r>
              <a:rPr lang="en-US" b="1" dirty="0">
                <a:solidFill>
                  <a:srgbClr val="0070C0"/>
                </a:solidFill>
                <a:latin typeface="Gill Sans MT" panose="020B0502020104020203" pitchFamily="34" charset="0"/>
              </a:rPr>
              <a:t>Data Modeling</a:t>
            </a:r>
            <a:br>
              <a:rPr lang="en-US" dirty="0">
                <a:solidFill>
                  <a:srgbClr val="0070C0"/>
                </a:solidFill>
                <a:latin typeface="Gill Sans MT" panose="020B0502020104020203" pitchFamily="34" charset="0"/>
              </a:rPr>
            </a:br>
            <a:r>
              <a:rPr lang="en-US" dirty="0">
                <a:solidFill>
                  <a:srgbClr val="0070C0"/>
                </a:solidFill>
                <a:latin typeface="Gill Sans MT" panose="020B0502020104020203" pitchFamily="34" charset="0"/>
              </a:rPr>
              <a:t>   Create relationships and use DAX for calculations </a:t>
            </a:r>
          </a:p>
          <a:p>
            <a:r>
              <a:rPr lang="en-US" b="1" dirty="0">
                <a:solidFill>
                  <a:srgbClr val="0070C0"/>
                </a:solidFill>
                <a:latin typeface="Gill Sans MT" panose="020B0502020104020203" pitchFamily="34" charset="0"/>
              </a:rPr>
              <a:t>Data Visualization</a:t>
            </a:r>
            <a:br>
              <a:rPr lang="en-US" dirty="0">
                <a:solidFill>
                  <a:srgbClr val="0070C0"/>
                </a:solidFill>
                <a:latin typeface="Gill Sans MT" panose="020B0502020104020203" pitchFamily="34" charset="0"/>
              </a:rPr>
            </a:br>
            <a:r>
              <a:rPr lang="en-US" dirty="0">
                <a:solidFill>
                  <a:srgbClr val="0070C0"/>
                </a:solidFill>
                <a:latin typeface="Gill Sans MT" panose="020B0502020104020203" pitchFamily="34" charset="0"/>
              </a:rPr>
              <a:t>   Build charts, reports, and dashboards </a:t>
            </a:r>
          </a:p>
          <a:p>
            <a:r>
              <a:rPr lang="en-US" b="1" dirty="0">
                <a:solidFill>
                  <a:srgbClr val="0070C0"/>
                </a:solidFill>
                <a:latin typeface="Gill Sans MT" panose="020B0502020104020203" pitchFamily="34" charset="0"/>
              </a:rPr>
              <a:t>Publishing</a:t>
            </a:r>
            <a:br>
              <a:rPr lang="en-US" dirty="0">
                <a:solidFill>
                  <a:srgbClr val="0070C0"/>
                </a:solidFill>
                <a:latin typeface="Gill Sans MT" panose="020B0502020104020203" pitchFamily="34" charset="0"/>
              </a:rPr>
            </a:br>
            <a:r>
              <a:rPr lang="en-US" dirty="0">
                <a:solidFill>
                  <a:srgbClr val="0070C0"/>
                </a:solidFill>
                <a:latin typeface="Gill Sans MT" panose="020B0502020104020203" pitchFamily="34" charset="0"/>
              </a:rPr>
              <a:t>   Upload reports to Power BI Service </a:t>
            </a:r>
          </a:p>
          <a:p>
            <a:r>
              <a:rPr lang="en-US" b="1" dirty="0">
                <a:solidFill>
                  <a:srgbClr val="0070C0"/>
                </a:solidFill>
                <a:latin typeface="Gill Sans MT" panose="020B0502020104020203" pitchFamily="34" charset="0"/>
              </a:rPr>
              <a:t>Sharing &amp; Refresh</a:t>
            </a:r>
            <a:br>
              <a:rPr lang="en-US" dirty="0">
                <a:solidFill>
                  <a:srgbClr val="0070C0"/>
                </a:solidFill>
                <a:latin typeface="Gill Sans MT" panose="020B0502020104020203" pitchFamily="34" charset="0"/>
              </a:rPr>
            </a:br>
            <a:r>
              <a:rPr lang="en-US" dirty="0">
                <a:solidFill>
                  <a:srgbClr val="0070C0"/>
                </a:solidFill>
                <a:latin typeface="Gill Sans MT" panose="020B0502020104020203" pitchFamily="34" charset="0"/>
              </a:rPr>
              <a:t>   Share with users and schedule data refresh </a:t>
            </a:r>
          </a:p>
          <a:p>
            <a:endParaRPr lang="en-IN" dirty="0">
              <a:solidFill>
                <a:srgbClr val="0070C0"/>
              </a:solidFill>
              <a:latin typeface="Gill Sans MT" panose="020B05020201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31067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39D2F-D336-BE45-7F64-3FBFEBE39D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>
                <a:latin typeface="Gill Sans MT" panose="020B0502020104020203" pitchFamily="34" charset="0"/>
              </a:rPr>
              <a:t>Question 4 : List any four data cleaning tasks that can be performed in Power Query.</a:t>
            </a:r>
            <a:endParaRPr lang="en-IN" sz="2800" b="1" dirty="0">
              <a:latin typeface="Gill Sans MT" panose="020B0502020104020203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2B560A-1B61-1EC9-D8FA-B83C874ECF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>
                <a:solidFill>
                  <a:srgbClr val="0070C0"/>
                </a:solidFill>
                <a:latin typeface="Gill Sans MT" panose="020B0502020104020203" pitchFamily="34" charset="0"/>
              </a:rPr>
              <a:t>Ans: </a:t>
            </a:r>
          </a:p>
          <a:p>
            <a:pPr marL="0" indent="0">
              <a:buNone/>
            </a:pPr>
            <a:r>
              <a:rPr lang="en-IN" dirty="0">
                <a:solidFill>
                  <a:srgbClr val="0070C0"/>
                </a:solidFill>
                <a:latin typeface="Gill Sans MT" panose="020B0502020104020203" pitchFamily="34" charset="0"/>
              </a:rPr>
              <a:t>Four data cleaning tasks in Power Query</a:t>
            </a:r>
            <a:r>
              <a:rPr lang="en-IN" b="1" dirty="0">
                <a:solidFill>
                  <a:srgbClr val="0070C0"/>
                </a:solidFill>
                <a:latin typeface="Gill Sans MT" panose="020B0502020104020203" pitchFamily="34" charset="0"/>
              </a:rPr>
              <a:t>:</a:t>
            </a:r>
          </a:p>
          <a:p>
            <a:r>
              <a:rPr lang="en-IN" b="1" dirty="0">
                <a:solidFill>
                  <a:srgbClr val="0070C0"/>
                </a:solidFill>
                <a:latin typeface="Gill Sans MT" panose="020B0502020104020203" pitchFamily="34" charset="0"/>
              </a:rPr>
              <a:t>Remove Duplicates</a:t>
            </a:r>
            <a:br>
              <a:rPr lang="en-IN" dirty="0">
                <a:solidFill>
                  <a:srgbClr val="0070C0"/>
                </a:solidFill>
                <a:latin typeface="Gill Sans MT" panose="020B0502020104020203" pitchFamily="34" charset="0"/>
              </a:rPr>
            </a:br>
            <a:r>
              <a:rPr lang="en-IN" dirty="0">
                <a:solidFill>
                  <a:srgbClr val="0070C0"/>
                </a:solidFill>
                <a:latin typeface="Gill Sans MT" panose="020B0502020104020203" pitchFamily="34" charset="0"/>
              </a:rPr>
              <a:t>Eliminate repeated records from the dataset </a:t>
            </a:r>
          </a:p>
          <a:p>
            <a:r>
              <a:rPr lang="en-IN" b="1" dirty="0">
                <a:solidFill>
                  <a:srgbClr val="0070C0"/>
                </a:solidFill>
                <a:latin typeface="Gill Sans MT" panose="020B0502020104020203" pitchFamily="34" charset="0"/>
              </a:rPr>
              <a:t>Handle Missing Values</a:t>
            </a:r>
            <a:br>
              <a:rPr lang="en-IN" dirty="0">
                <a:solidFill>
                  <a:srgbClr val="0070C0"/>
                </a:solidFill>
                <a:latin typeface="Gill Sans MT" panose="020B0502020104020203" pitchFamily="34" charset="0"/>
              </a:rPr>
            </a:br>
            <a:r>
              <a:rPr lang="en-IN" dirty="0">
                <a:solidFill>
                  <a:srgbClr val="0070C0"/>
                </a:solidFill>
                <a:latin typeface="Gill Sans MT" panose="020B0502020104020203" pitchFamily="34" charset="0"/>
              </a:rPr>
              <a:t>Replace null values or remove blank rows </a:t>
            </a:r>
          </a:p>
          <a:p>
            <a:r>
              <a:rPr lang="en-IN" b="1" dirty="0">
                <a:solidFill>
                  <a:srgbClr val="0070C0"/>
                </a:solidFill>
                <a:latin typeface="Gill Sans MT" panose="020B0502020104020203" pitchFamily="34" charset="0"/>
              </a:rPr>
              <a:t>Change Data Types</a:t>
            </a:r>
            <a:br>
              <a:rPr lang="en-IN" dirty="0">
                <a:solidFill>
                  <a:srgbClr val="0070C0"/>
                </a:solidFill>
                <a:latin typeface="Gill Sans MT" panose="020B0502020104020203" pitchFamily="34" charset="0"/>
              </a:rPr>
            </a:br>
            <a:r>
              <a:rPr lang="en-IN" dirty="0">
                <a:solidFill>
                  <a:srgbClr val="0070C0"/>
                </a:solidFill>
                <a:latin typeface="Gill Sans MT" panose="020B0502020104020203" pitchFamily="34" charset="0"/>
              </a:rPr>
              <a:t>Convert data (e.g., text → number, date format) </a:t>
            </a:r>
          </a:p>
          <a:p>
            <a:r>
              <a:rPr lang="en-IN" b="1" dirty="0">
                <a:solidFill>
                  <a:srgbClr val="0070C0"/>
                </a:solidFill>
                <a:latin typeface="Gill Sans MT" panose="020B0502020104020203" pitchFamily="34" charset="0"/>
              </a:rPr>
              <a:t>Filter Rows</a:t>
            </a:r>
            <a:br>
              <a:rPr lang="en-IN" dirty="0">
                <a:solidFill>
                  <a:srgbClr val="0070C0"/>
                </a:solidFill>
                <a:latin typeface="Gill Sans MT" panose="020B0502020104020203" pitchFamily="34" charset="0"/>
              </a:rPr>
            </a:br>
            <a:r>
              <a:rPr lang="en-IN" dirty="0">
                <a:solidFill>
                  <a:srgbClr val="0070C0"/>
                </a:solidFill>
                <a:latin typeface="Gill Sans MT" panose="020B0502020104020203" pitchFamily="34" charset="0"/>
              </a:rPr>
              <a:t>Remove unwanted or irrelevant data</a:t>
            </a:r>
          </a:p>
          <a:p>
            <a:endParaRPr lang="en-IN" dirty="0">
              <a:solidFill>
                <a:srgbClr val="0070C0"/>
              </a:solidFill>
              <a:latin typeface="Gill Sans MT" panose="020B05020201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18125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6CAE54-6B6B-D01F-AFF9-B68D58E7C5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>
                <a:latin typeface="Gill Sans MT" panose="020B0502020104020203" pitchFamily="34" charset="0"/>
              </a:rPr>
              <a:t>Q5: Write step by step instructions to load the above dataset.</a:t>
            </a:r>
            <a:endParaRPr lang="en-IN" sz="2800" dirty="0">
              <a:latin typeface="Gill Sans MT" panose="020B0502020104020203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8E9D54-0657-6A3B-1DF7-8B9E211F23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4628" y="1310618"/>
            <a:ext cx="10515600" cy="4922016"/>
          </a:xfrm>
        </p:spPr>
        <p:txBody>
          <a:bodyPr>
            <a:normAutofit lnSpcReduction="10000"/>
          </a:bodyPr>
          <a:lstStyle/>
          <a:p>
            <a:r>
              <a:rPr lang="en-US" dirty="0">
                <a:solidFill>
                  <a:srgbClr val="0070C0"/>
                </a:solidFill>
                <a:latin typeface="Gill Sans MT" panose="020B0502020104020203" pitchFamily="34" charset="0"/>
              </a:rPr>
              <a:t>ANS : </a:t>
            </a:r>
            <a:r>
              <a:rPr lang="en-US" b="1" dirty="0">
                <a:solidFill>
                  <a:srgbClr val="0070C0"/>
                </a:solidFill>
              </a:rPr>
              <a:t>Steps to Load Dataset in Power BI:</a:t>
            </a:r>
          </a:p>
          <a:p>
            <a:r>
              <a:rPr lang="en-US" b="1" dirty="0">
                <a:solidFill>
                  <a:srgbClr val="0070C0"/>
                </a:solidFill>
              </a:rPr>
              <a:t>Open Power BI Desktop</a:t>
            </a:r>
            <a:br>
              <a:rPr lang="en-US" dirty="0">
                <a:solidFill>
                  <a:srgbClr val="0070C0"/>
                </a:solidFill>
              </a:rPr>
            </a:br>
            <a:r>
              <a:rPr lang="en-US" dirty="0">
                <a:solidFill>
                  <a:srgbClr val="0070C0"/>
                </a:solidFill>
              </a:rPr>
              <a:t>Launch the Power BI application </a:t>
            </a:r>
          </a:p>
          <a:p>
            <a:r>
              <a:rPr lang="en-US" b="1" dirty="0">
                <a:solidFill>
                  <a:srgbClr val="0070C0"/>
                </a:solidFill>
              </a:rPr>
              <a:t>Click on “Get Data”</a:t>
            </a:r>
            <a:br>
              <a:rPr lang="en-US" dirty="0">
                <a:solidFill>
                  <a:srgbClr val="0070C0"/>
                </a:solidFill>
              </a:rPr>
            </a:br>
            <a:r>
              <a:rPr lang="en-US" dirty="0">
                <a:solidFill>
                  <a:srgbClr val="0070C0"/>
                </a:solidFill>
              </a:rPr>
              <a:t>From the Home tab, select </a:t>
            </a:r>
            <a:r>
              <a:rPr lang="en-US" b="1" dirty="0">
                <a:solidFill>
                  <a:srgbClr val="0070C0"/>
                </a:solidFill>
              </a:rPr>
              <a:t>Get Data</a:t>
            </a:r>
            <a:r>
              <a:rPr lang="en-US" dirty="0">
                <a:solidFill>
                  <a:srgbClr val="0070C0"/>
                </a:solidFill>
              </a:rPr>
              <a:t> </a:t>
            </a:r>
          </a:p>
          <a:p>
            <a:r>
              <a:rPr lang="en-US" b="1" dirty="0">
                <a:solidFill>
                  <a:srgbClr val="0070C0"/>
                </a:solidFill>
              </a:rPr>
              <a:t>Choose Data Source</a:t>
            </a:r>
            <a:br>
              <a:rPr lang="en-US" dirty="0">
                <a:solidFill>
                  <a:srgbClr val="0070C0"/>
                </a:solidFill>
              </a:rPr>
            </a:br>
            <a:r>
              <a:rPr lang="en-US" dirty="0">
                <a:solidFill>
                  <a:srgbClr val="0070C0"/>
                </a:solidFill>
              </a:rPr>
              <a:t>Select </a:t>
            </a:r>
            <a:r>
              <a:rPr lang="en-US" b="1" dirty="0">
                <a:solidFill>
                  <a:srgbClr val="0070C0"/>
                </a:solidFill>
              </a:rPr>
              <a:t>Text/CSV</a:t>
            </a:r>
            <a:r>
              <a:rPr lang="en-US" dirty="0">
                <a:solidFill>
                  <a:srgbClr val="0070C0"/>
                </a:solidFill>
              </a:rPr>
              <a:t> (since your dataset is a CSV file) </a:t>
            </a:r>
          </a:p>
          <a:p>
            <a:r>
              <a:rPr lang="en-US" b="1" dirty="0">
                <a:solidFill>
                  <a:srgbClr val="0070C0"/>
                </a:solidFill>
              </a:rPr>
              <a:t>Browse File</a:t>
            </a:r>
            <a:br>
              <a:rPr lang="en-US" dirty="0">
                <a:solidFill>
                  <a:srgbClr val="0070C0"/>
                </a:solidFill>
              </a:rPr>
            </a:br>
            <a:r>
              <a:rPr lang="en-US" dirty="0">
                <a:solidFill>
                  <a:srgbClr val="0070C0"/>
                </a:solidFill>
              </a:rPr>
              <a:t>Locate and select your dataset file → Click Open </a:t>
            </a:r>
          </a:p>
          <a:p>
            <a:r>
              <a:rPr lang="en-US" b="1" dirty="0">
                <a:solidFill>
                  <a:srgbClr val="0070C0"/>
                </a:solidFill>
              </a:rPr>
              <a:t>Preview Data</a:t>
            </a:r>
            <a:br>
              <a:rPr lang="en-US" dirty="0">
                <a:solidFill>
                  <a:srgbClr val="0070C0"/>
                </a:solidFill>
              </a:rPr>
            </a:br>
            <a:r>
              <a:rPr lang="en-US" dirty="0">
                <a:solidFill>
                  <a:srgbClr val="0070C0"/>
                </a:solidFill>
              </a:rPr>
              <a:t>A preview window will appear → Check the data  </a:t>
            </a:r>
          </a:p>
          <a:p>
            <a:endParaRPr lang="en-US" dirty="0">
              <a:solidFill>
                <a:srgbClr val="0070C0"/>
              </a:solidFill>
            </a:endParaRPr>
          </a:p>
          <a:p>
            <a:endParaRPr lang="en-IN" dirty="0">
              <a:solidFill>
                <a:srgbClr val="0070C0"/>
              </a:solidFill>
              <a:latin typeface="Gill Sans MT" panose="020B05020201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99614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306E55B3-0BF6-0DC9-2B74-11672B782CF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23497" y="250471"/>
            <a:ext cx="12324143" cy="56938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>
                <a:ln>
                  <a:noFill/>
                </a:ln>
                <a:solidFill>
                  <a:srgbClr val="0070C0"/>
                </a:solidFill>
                <a:effectLst/>
                <a:latin typeface="Arial" panose="020B0604020202020204" pitchFamily="34" charset="0"/>
              </a:rPr>
              <a:t>Open Power Query Editor</a:t>
            </a:r>
            <a:b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0070C0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0070C0"/>
                </a:solidFill>
                <a:effectLst/>
                <a:latin typeface="Arial" panose="020B0604020202020204" pitchFamily="34" charset="0"/>
              </a:rPr>
              <a:t>Click </a:t>
            </a:r>
            <a:r>
              <a:rPr kumimoji="0" lang="en-US" altLang="en-US" b="1" i="0" u="none" strike="noStrike" cap="none" normalizeH="0" baseline="0">
                <a:ln>
                  <a:noFill/>
                </a:ln>
                <a:solidFill>
                  <a:srgbClr val="0070C0"/>
                </a:solidFill>
                <a:effectLst/>
                <a:latin typeface="Arial" panose="020B0604020202020204" pitchFamily="34" charset="0"/>
              </a:rPr>
              <a:t>Transform Data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0070C0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>
                <a:ln>
                  <a:noFill/>
                </a:ln>
                <a:solidFill>
                  <a:srgbClr val="0070C0"/>
                </a:solidFill>
                <a:effectLst/>
                <a:latin typeface="Arial" panose="020B0604020202020204" pitchFamily="34" charset="0"/>
              </a:rPr>
              <a:t>Select the Column</a:t>
            </a:r>
            <a:b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0070C0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0070C0"/>
                </a:solidFill>
                <a:effectLst/>
                <a:latin typeface="Arial" panose="020B0604020202020204" pitchFamily="34" charset="0"/>
              </a:rPr>
              <a:t>Choose the column where values are missing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>
                <a:ln>
                  <a:noFill/>
                </a:ln>
                <a:solidFill>
                  <a:srgbClr val="0070C0"/>
                </a:solidFill>
                <a:effectLst/>
                <a:latin typeface="Arial" panose="020B0604020202020204" pitchFamily="34" charset="0"/>
              </a:rPr>
              <a:t>Handle Missing Values (Choose one):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0070C0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>
                <a:ln>
                  <a:noFill/>
                </a:ln>
                <a:solidFill>
                  <a:srgbClr val="0070C0"/>
                </a:solidFill>
                <a:effectLst/>
                <a:latin typeface="Arial" panose="020B0604020202020204" pitchFamily="34" charset="0"/>
              </a:rPr>
              <a:t>Remove Rows</a:t>
            </a:r>
            <a:b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0070C0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0070C0"/>
                </a:solidFill>
                <a:effectLst/>
                <a:latin typeface="Arial" panose="020B0604020202020204" pitchFamily="34" charset="0"/>
              </a:rPr>
              <a:t>Home → Remove Rows → Remove Blank Rows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>
                <a:ln>
                  <a:noFill/>
                </a:ln>
                <a:solidFill>
                  <a:srgbClr val="0070C0"/>
                </a:solidFill>
                <a:effectLst/>
                <a:latin typeface="Arial" panose="020B0604020202020204" pitchFamily="34" charset="0"/>
              </a:rPr>
              <a:t>Replace Values</a:t>
            </a:r>
            <a:b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0070C0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0070C0"/>
                </a:solidFill>
                <a:effectLst/>
                <a:latin typeface="Arial" panose="020B0604020202020204" pitchFamily="34" charset="0"/>
              </a:rPr>
              <a:t>Right-click column → Replace Values → replace </a:t>
            </a:r>
            <a:r>
              <a:rPr kumimoji="0" lang="en-US" altLang="en-US" b="0" i="1" u="none" strike="noStrike" cap="none" normalizeH="0" baseline="0">
                <a:ln>
                  <a:noFill/>
                </a:ln>
                <a:solidFill>
                  <a:srgbClr val="0070C0"/>
                </a:solidFill>
                <a:effectLst/>
                <a:latin typeface="Arial" panose="020B0604020202020204" pitchFamily="34" charset="0"/>
              </a:rPr>
              <a:t>null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0070C0"/>
                </a:solidFill>
                <a:effectLst/>
                <a:latin typeface="Arial" panose="020B0604020202020204" pitchFamily="34" charset="0"/>
              </a:rPr>
              <a:t> with 0 / “Not Available”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>
                <a:ln>
                  <a:noFill/>
                </a:ln>
                <a:solidFill>
                  <a:srgbClr val="0070C0"/>
                </a:solidFill>
                <a:effectLst/>
                <a:latin typeface="Arial" panose="020B0604020202020204" pitchFamily="34" charset="0"/>
              </a:rPr>
              <a:t>Fill Values</a:t>
            </a:r>
            <a:b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0070C0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0070C0"/>
                </a:solidFill>
                <a:effectLst/>
                <a:latin typeface="Arial" panose="020B0604020202020204" pitchFamily="34" charset="0"/>
              </a:rPr>
              <a:t>Transform → Fill → Down / Up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>
                <a:ln>
                  <a:noFill/>
                </a:ln>
                <a:solidFill>
                  <a:srgbClr val="0070C0"/>
                </a:solidFill>
                <a:effectLst/>
                <a:latin typeface="Arial" panose="020B0604020202020204" pitchFamily="34" charset="0"/>
              </a:rPr>
              <a:t>Apply Changes</a:t>
            </a:r>
            <a:b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0070C0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0070C0"/>
                </a:solidFill>
                <a:effectLst/>
                <a:latin typeface="Arial" panose="020B0604020202020204" pitchFamily="34" charset="0"/>
              </a:rPr>
              <a:t>Click </a:t>
            </a:r>
            <a:r>
              <a:rPr kumimoji="0" lang="en-US" altLang="en-US" b="1" i="0" u="none" strike="noStrike" cap="none" normalizeH="0" baseline="0">
                <a:ln>
                  <a:noFill/>
                </a:ln>
                <a:solidFill>
                  <a:srgbClr val="0070C0"/>
                </a:solidFill>
                <a:effectLst/>
                <a:latin typeface="Arial" panose="020B0604020202020204" pitchFamily="34" charset="0"/>
              </a:rPr>
              <a:t>Close &amp; Apply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0070C0"/>
                </a:solidFill>
                <a:effectLst/>
                <a:latin typeface="Arial" panose="020B06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0481031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587B3A-4B4D-1E29-465C-F6BBEFCEBB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Gill Sans MT" panose="020B0502020104020203" pitchFamily="34" charset="0"/>
              </a:rPr>
              <a:t>Question 6 : Define Data View, Report View, and Model View. Explain the purpose of each view.</a:t>
            </a:r>
            <a:endParaRPr lang="en-IN" dirty="0">
              <a:latin typeface="Gill Sans MT" panose="020B0502020104020203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28821B-E9B5-97DE-6700-0C3746106E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>
                <a:solidFill>
                  <a:srgbClr val="0070C0"/>
                </a:solidFill>
                <a:latin typeface="Gill Sans MT" panose="020B0502020104020203" pitchFamily="34" charset="0"/>
              </a:rPr>
              <a:t>Ans : Data View</a:t>
            </a:r>
          </a:p>
          <a:p>
            <a:r>
              <a:rPr lang="en-US" dirty="0">
                <a:solidFill>
                  <a:srgbClr val="0070C0"/>
                </a:solidFill>
                <a:latin typeface="Gill Sans MT" panose="020B0502020104020203" pitchFamily="34" charset="0"/>
              </a:rPr>
              <a:t>Shows raw data in tabular form </a:t>
            </a:r>
          </a:p>
          <a:p>
            <a:r>
              <a:rPr lang="en-US" dirty="0">
                <a:solidFill>
                  <a:srgbClr val="0070C0"/>
                </a:solidFill>
                <a:latin typeface="Gill Sans MT" panose="020B0502020104020203" pitchFamily="34" charset="0"/>
              </a:rPr>
              <a:t>Used to inspect, clean, and create calculated columns </a:t>
            </a:r>
          </a:p>
          <a:p>
            <a:pPr marL="0" indent="0">
              <a:buNone/>
            </a:pPr>
            <a:endParaRPr lang="en-US" dirty="0">
              <a:solidFill>
                <a:srgbClr val="0070C0"/>
              </a:solidFill>
              <a:latin typeface="Gill Sans MT" panose="020B0502020104020203" pitchFamily="34" charset="0"/>
            </a:endParaRPr>
          </a:p>
          <a:p>
            <a:r>
              <a:rPr lang="en-US" dirty="0">
                <a:solidFill>
                  <a:srgbClr val="0070C0"/>
                </a:solidFill>
                <a:latin typeface="Gill Sans MT" panose="020B0502020104020203" pitchFamily="34" charset="0"/>
              </a:rPr>
              <a:t>Report View</a:t>
            </a:r>
          </a:p>
          <a:p>
            <a:r>
              <a:rPr lang="en-US" dirty="0">
                <a:solidFill>
                  <a:srgbClr val="0070C0"/>
                </a:solidFill>
                <a:latin typeface="Gill Sans MT" panose="020B0502020104020203" pitchFamily="34" charset="0"/>
              </a:rPr>
              <a:t>Used to create visualizations (charts, graphs, dashboards) </a:t>
            </a:r>
          </a:p>
          <a:p>
            <a:r>
              <a:rPr lang="en-US" dirty="0">
                <a:solidFill>
                  <a:srgbClr val="0070C0"/>
                </a:solidFill>
                <a:latin typeface="Gill Sans MT" panose="020B0502020104020203" pitchFamily="34" charset="0"/>
              </a:rPr>
              <a:t>Main area for data analysis and presentation </a:t>
            </a:r>
          </a:p>
          <a:p>
            <a:pPr marL="0" indent="0">
              <a:buNone/>
            </a:pPr>
            <a:endParaRPr lang="en-US" dirty="0">
              <a:solidFill>
                <a:srgbClr val="0070C0"/>
              </a:solidFill>
              <a:latin typeface="Gill Sans MT" panose="020B0502020104020203" pitchFamily="34" charset="0"/>
            </a:endParaRPr>
          </a:p>
          <a:p>
            <a:r>
              <a:rPr lang="en-US" dirty="0">
                <a:solidFill>
                  <a:srgbClr val="0070C0"/>
                </a:solidFill>
                <a:latin typeface="Gill Sans MT" panose="020B0502020104020203" pitchFamily="34" charset="0"/>
              </a:rPr>
              <a:t>Model View</a:t>
            </a:r>
          </a:p>
          <a:p>
            <a:r>
              <a:rPr lang="en-US" dirty="0">
                <a:solidFill>
                  <a:srgbClr val="0070C0"/>
                </a:solidFill>
                <a:latin typeface="Gill Sans MT" panose="020B0502020104020203" pitchFamily="34" charset="0"/>
              </a:rPr>
              <a:t>Shows relationships between tables </a:t>
            </a:r>
          </a:p>
          <a:p>
            <a:r>
              <a:rPr lang="en-US" dirty="0">
                <a:solidFill>
                  <a:srgbClr val="0070C0"/>
                </a:solidFill>
                <a:latin typeface="Gill Sans MT" panose="020B0502020104020203" pitchFamily="34" charset="0"/>
              </a:rPr>
              <a:t>Used to manage data model and connections </a:t>
            </a:r>
          </a:p>
          <a:p>
            <a:endParaRPr lang="en-IN" dirty="0">
              <a:solidFill>
                <a:srgbClr val="0070C0"/>
              </a:solidFill>
              <a:latin typeface="Gill Sans MT" panose="020B05020201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78068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91BB56-3C73-D0A1-7333-24930C5C59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1856"/>
            <a:ext cx="10515600" cy="1325563"/>
          </a:xfrm>
        </p:spPr>
        <p:txBody>
          <a:bodyPr>
            <a:normAutofit/>
          </a:bodyPr>
          <a:lstStyle/>
          <a:p>
            <a:r>
              <a:rPr lang="en-US" sz="2000" b="1" dirty="0">
                <a:latin typeface="Gill Sans MT" panose="020B0502020104020203" pitchFamily="34" charset="0"/>
              </a:rPr>
              <a:t>Question 7 : Discuss the different data sources that Power BI supports.</a:t>
            </a:r>
            <a:endParaRPr lang="en-IN" sz="2000" b="1" dirty="0">
              <a:latin typeface="Gill Sans MT" panose="020B0502020104020203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4ACF29-159D-4A8C-47DA-5783DA5B57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17418"/>
            <a:ext cx="10515600" cy="5172567"/>
          </a:xfrm>
        </p:spPr>
        <p:txBody>
          <a:bodyPr>
            <a:normAutofit fontScale="62500" lnSpcReduction="20000"/>
          </a:bodyPr>
          <a:lstStyle/>
          <a:p>
            <a:r>
              <a:rPr lang="en-US" dirty="0">
                <a:solidFill>
                  <a:srgbClr val="0070C0"/>
                </a:solidFill>
              </a:rPr>
              <a:t>Ans : </a:t>
            </a:r>
            <a:r>
              <a:rPr lang="en-IN" b="1" dirty="0">
                <a:solidFill>
                  <a:srgbClr val="0070C0"/>
                </a:solidFill>
              </a:rPr>
              <a:t>Data sources supported by Power BI:</a:t>
            </a:r>
          </a:p>
          <a:p>
            <a:r>
              <a:rPr lang="en-IN" b="1" dirty="0">
                <a:solidFill>
                  <a:srgbClr val="0070C0"/>
                </a:solidFill>
              </a:rPr>
              <a:t>File-based Sources</a:t>
            </a:r>
            <a:r>
              <a:rPr lang="en-IN" dirty="0">
                <a:solidFill>
                  <a:srgbClr val="0070C0"/>
                </a:solidFill>
              </a:rPr>
              <a:t> </a:t>
            </a:r>
          </a:p>
          <a:p>
            <a:pPr lvl="1"/>
            <a:r>
              <a:rPr lang="en-IN" dirty="0">
                <a:solidFill>
                  <a:srgbClr val="0070C0"/>
                </a:solidFill>
              </a:rPr>
              <a:t>Excel, CSV, Text, XML, JSON </a:t>
            </a:r>
          </a:p>
          <a:p>
            <a:pPr lvl="1"/>
            <a:r>
              <a:rPr lang="en-IN" dirty="0">
                <a:solidFill>
                  <a:srgbClr val="0070C0"/>
                </a:solidFill>
              </a:rPr>
              <a:t>Used for simple/local data storage </a:t>
            </a:r>
          </a:p>
          <a:p>
            <a:r>
              <a:rPr lang="en-IN" b="1" dirty="0">
                <a:solidFill>
                  <a:srgbClr val="0070C0"/>
                </a:solidFill>
              </a:rPr>
              <a:t>Database Sources</a:t>
            </a:r>
            <a:r>
              <a:rPr lang="en-IN" dirty="0">
                <a:solidFill>
                  <a:srgbClr val="0070C0"/>
                </a:solidFill>
              </a:rPr>
              <a:t> </a:t>
            </a:r>
          </a:p>
          <a:p>
            <a:pPr lvl="1"/>
            <a:r>
              <a:rPr lang="en-IN" dirty="0">
                <a:solidFill>
                  <a:srgbClr val="0070C0"/>
                </a:solidFill>
              </a:rPr>
              <a:t>SQL Server, MySQL, Oracle, PostgreSQL </a:t>
            </a:r>
          </a:p>
          <a:p>
            <a:pPr lvl="1"/>
            <a:r>
              <a:rPr lang="en-IN" dirty="0">
                <a:solidFill>
                  <a:srgbClr val="0070C0"/>
                </a:solidFill>
              </a:rPr>
              <a:t>Used for structured and large datasets </a:t>
            </a:r>
          </a:p>
          <a:p>
            <a:r>
              <a:rPr lang="en-IN" b="1" dirty="0">
                <a:solidFill>
                  <a:srgbClr val="0070C0"/>
                </a:solidFill>
              </a:rPr>
              <a:t>Cloud-based Sources</a:t>
            </a:r>
            <a:r>
              <a:rPr lang="en-IN" dirty="0">
                <a:solidFill>
                  <a:srgbClr val="0070C0"/>
                </a:solidFill>
              </a:rPr>
              <a:t> </a:t>
            </a:r>
          </a:p>
          <a:p>
            <a:pPr lvl="1"/>
            <a:r>
              <a:rPr lang="en-IN" dirty="0">
                <a:solidFill>
                  <a:srgbClr val="0070C0"/>
                </a:solidFill>
              </a:rPr>
              <a:t>Azure, Google Analytics, SharePoint, OneDrive </a:t>
            </a:r>
          </a:p>
          <a:p>
            <a:pPr lvl="1"/>
            <a:r>
              <a:rPr lang="en-IN" dirty="0">
                <a:solidFill>
                  <a:srgbClr val="0070C0"/>
                </a:solidFill>
              </a:rPr>
              <a:t>Access data stored online </a:t>
            </a:r>
          </a:p>
          <a:p>
            <a:r>
              <a:rPr lang="en-IN" b="1" dirty="0">
                <a:solidFill>
                  <a:srgbClr val="0070C0"/>
                </a:solidFill>
              </a:rPr>
              <a:t>Web &amp; APIs</a:t>
            </a:r>
            <a:r>
              <a:rPr lang="en-IN" dirty="0">
                <a:solidFill>
                  <a:srgbClr val="0070C0"/>
                </a:solidFill>
              </a:rPr>
              <a:t> </a:t>
            </a:r>
          </a:p>
          <a:p>
            <a:pPr lvl="1"/>
            <a:r>
              <a:rPr lang="en-IN" dirty="0">
                <a:solidFill>
                  <a:srgbClr val="0070C0"/>
                </a:solidFill>
              </a:rPr>
              <a:t>Websites, REST APIs </a:t>
            </a:r>
          </a:p>
          <a:p>
            <a:pPr lvl="1"/>
            <a:r>
              <a:rPr lang="en-IN" dirty="0">
                <a:solidFill>
                  <a:srgbClr val="0070C0"/>
                </a:solidFill>
              </a:rPr>
              <a:t>Used to fetch live/online data </a:t>
            </a:r>
          </a:p>
          <a:p>
            <a:r>
              <a:rPr lang="en-IN" b="1" dirty="0">
                <a:solidFill>
                  <a:srgbClr val="0070C0"/>
                </a:solidFill>
              </a:rPr>
              <a:t>Power BI Services</a:t>
            </a:r>
            <a:r>
              <a:rPr lang="en-IN" dirty="0">
                <a:solidFill>
                  <a:srgbClr val="0070C0"/>
                </a:solidFill>
              </a:rPr>
              <a:t> </a:t>
            </a:r>
          </a:p>
          <a:p>
            <a:pPr lvl="1"/>
            <a:r>
              <a:rPr lang="en-IN" dirty="0">
                <a:solidFill>
                  <a:srgbClr val="0070C0"/>
                </a:solidFill>
              </a:rPr>
              <a:t>Existing Power BI datasets, dataflows </a:t>
            </a:r>
          </a:p>
          <a:p>
            <a:pPr lvl="1"/>
            <a:r>
              <a:rPr lang="en-IN" dirty="0">
                <a:solidFill>
                  <a:srgbClr val="0070C0"/>
                </a:solidFill>
              </a:rPr>
              <a:t>Reuse published data </a:t>
            </a:r>
          </a:p>
          <a:p>
            <a:r>
              <a:rPr lang="en-IN" b="1" dirty="0">
                <a:solidFill>
                  <a:srgbClr val="0070C0"/>
                </a:solidFill>
              </a:rPr>
              <a:t>Other Sources</a:t>
            </a:r>
            <a:r>
              <a:rPr lang="en-IN" dirty="0">
                <a:solidFill>
                  <a:srgbClr val="0070C0"/>
                </a:solidFill>
              </a:rPr>
              <a:t> </a:t>
            </a:r>
          </a:p>
          <a:p>
            <a:pPr lvl="1"/>
            <a:r>
              <a:rPr lang="en-IN" dirty="0">
                <a:solidFill>
                  <a:srgbClr val="0070C0"/>
                </a:solidFill>
              </a:rPr>
              <a:t>Hadoop, Spark, OData feeds </a:t>
            </a:r>
          </a:p>
          <a:p>
            <a:pPr lvl="1"/>
            <a:r>
              <a:rPr lang="en-IN" dirty="0">
                <a:solidFill>
                  <a:srgbClr val="0070C0"/>
                </a:solidFill>
              </a:rPr>
              <a:t>Used for big data and advanced analytics</a:t>
            </a:r>
          </a:p>
          <a:p>
            <a:endParaRPr lang="en-IN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08713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CEE8E2-FD20-FAA4-BBB3-FE4A3ED0AA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Q8 IS IN POWER BI FILE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789366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</TotalTime>
  <Words>748</Words>
  <Application>Microsoft Office PowerPoint</Application>
  <PresentationFormat>Widescreen</PresentationFormat>
  <Paragraphs>85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Amasis MT Pro Medium</vt:lpstr>
      <vt:lpstr>Arial</vt:lpstr>
      <vt:lpstr>Calibri</vt:lpstr>
      <vt:lpstr>Calibri Light</vt:lpstr>
      <vt:lpstr>Gill Sans MT</vt:lpstr>
      <vt:lpstr>Office Theme</vt:lpstr>
      <vt:lpstr>POWER BI: Question 1 : What is Power BI and why is it used in businesses?</vt:lpstr>
      <vt:lpstr>Question 2 : Name and explain the three main components of   Power BI.</vt:lpstr>
      <vt:lpstr>Question 3 : Explain the Power BI workflow.</vt:lpstr>
      <vt:lpstr>Question 4 : List any four data cleaning tasks that can be performed in Power Query.</vt:lpstr>
      <vt:lpstr>Q5: Write step by step instructions to load the above dataset.</vt:lpstr>
      <vt:lpstr>PowerPoint Presentation</vt:lpstr>
      <vt:lpstr>Question 6 : Define Data View, Report View, and Model View. Explain the purpose of each view.</vt:lpstr>
      <vt:lpstr>Question 7 : Discuss the different data sources that Power BI supports.</vt:lpstr>
      <vt:lpstr>Q8 IS IN POWER BI FILE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lakshay maretha</dc:creator>
  <cp:lastModifiedBy>lakshay maretha</cp:lastModifiedBy>
  <cp:revision>1</cp:revision>
  <dcterms:created xsi:type="dcterms:W3CDTF">2026-03-23T10:12:49Z</dcterms:created>
  <dcterms:modified xsi:type="dcterms:W3CDTF">2026-03-23T11:12:31Z</dcterms:modified>
</cp:coreProperties>
</file>